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soniya. Ism, rol, bir jumlada loyiha. DIQQAT: kvadrat qavslardagi ism va telefonni to'ldiring.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soniya. Talab: raqam + manba + shaxsiy hikoya. Raqamlar mahsulot dvigatelida hisoblangan; soliq stavkalari manbasi — soliq.uz, bank foizlari — bank.uz (12.08.2026). SHAXSIY HIKOYA qo'shing: tanishingiz yoki oilangizdagi tadbirkor bilan bo'lgan real voqea — bu slaydning ta'sirini ikki barobar oshiradi.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soniya. 'Fishka' — AI hisoblamaydi, tushuntiradi. Shu jumlani albatta ayting. Keyin jonli demoga o'ting.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soniya. MAJBURIY: kvadrat qavslarni Statistika agentligi raqami bilan to'ldiring va manbani ayting. Raqamsiz bu slayd bo'sh ko'rinadi.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soniya. Talab: hech kimni qoralamang, 'analogi yo'q' demang. Shuning uchun jadvalda banklar ham, buxgalter ham hurmat bilan ko'rsatilgan — biz faqat qamrovni solishtiramiz.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soniya. Narx asosi: buxgalter konsultatsiyasi 100–300 ming so'm bir marta, biz oyiga 149 000 va cheksiz. 99 obunachi = 14 mln oylik doimiy xarajat / 142 000 hissa. Bu narx bozorda sinalmagan — so'rashsa halol ayting.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soniya. Halol bo'ling: mijoz yo'q, MVP bor. Soxta raqam aytmang — jury darhol sezadi va butun taqdimotga ishonch yo'qoladi.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soniya. RASMLARNI QO'YING: doira ustiga foto → Crop to Shape → Oval. Talab: fotosuratlar, mas'ul sohasi va tajribasi. Shaxzodaning roli taxmin qilindi — tekshiring.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soniya. 200 mln = 12 oy × ~14 mln oylik doimiy xarajat + zaxira. Kutilayotgan natija: 12 oyda 300+ pullik obunachi va zararsizlik. 'Keragidan ortiq so'ramang' talabiga 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soniya. Talab: kontaktlar KATTA harflar bilan. Telefon raqamini to'ldiring. Oxirgi jumla: 'Savollaringizga tayyorman va hoziroq jonli ko'rsata olaman.'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685800"/>
            <a:ext cx="1737360" cy="1737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560320"/>
            <a:ext cx="12191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spc="400" kern="0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 </a:t>
            </a:r>
            <a:pPr algn="ctr" indent="0" marL="0">
              <a:buNone/>
            </a:pPr>
            <a:r>
              <a:rPr lang="en-US" sz="4600" b="1" spc="400" kern="0" dirty="0">
                <a:solidFill>
                  <a:srgbClr val="2F7D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0" y="32918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G'OYADAN — O'SISHGACHA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0" y="3767328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Kichik tadbirkorlar uchun AI moliyaviy maslahatchi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0" y="42062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Biznes-reja  ·  Kredit va imtiyozlar  ·  Soliq  ·  Lokatsiya tahlili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880360" y="4800600"/>
            <a:ext cx="6400800" cy="1234440"/>
          </a:xfrm>
          <a:prstGeom prst="roundRect">
            <a:avLst>
              <a:gd name="adj" fmla="val 7407"/>
            </a:avLst>
          </a:prstGeom>
          <a:solidFill>
            <a:srgbClr val="F1F6F3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63240" y="4800600"/>
            <a:ext cx="603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[ISM FAMILIYA]</a:t>
            </a:r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asoschi / taqdimotchi
</a:t>
            </a:r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info@phoenix-ai.uz  ·  +998 [__] [___ __ __]
</a:t>
            </a:r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phoenix-ai.uz  ·  github.com/fotimaruziyeva77/phoenix-ai-finance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315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MUAMMO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Tadbirkor har oy bilmagan holda pul yo'qotadi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Kichik tadbirkor buxgalter yollay olmaydi — bitta konsultatsiya 100–300 ming so'm. Shuning uchun moliyaviy qarorlar ko'r-ko'rona qabul qilinadi.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1996" y="2057400"/>
            <a:ext cx="3611880" cy="2880360"/>
          </a:xfrm>
          <a:prstGeom prst="roundRect">
            <a:avLst>
              <a:gd name="adj" fmla="val 3175"/>
            </a:avLst>
          </a:prstGeom>
          <a:solidFill>
            <a:srgbClr val="FBEDE7"/>
          </a:solidFill>
          <a:ln w="12700">
            <a:solidFill>
              <a:srgbClr val="F0D5C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604" y="233172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4604" y="281635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Noto'g'ri soliq rejimi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4604" y="329184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Zarar hisobotda ko'rinmaydi — shuning uchun hech kim tuzatmaydi.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14604" y="411480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25 200 000 so'm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14604" y="448056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yiliga, namunaviy do'kon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89908" y="2057400"/>
            <a:ext cx="3611880" cy="2880360"/>
          </a:xfrm>
          <a:prstGeom prst="roundRect">
            <a:avLst>
              <a:gd name="adj" fmla="val 3175"/>
            </a:avLst>
          </a:prstGeom>
          <a:solidFill>
            <a:srgbClr val="FBEDE7"/>
          </a:solidFill>
          <a:ln w="12700">
            <a:solidFill>
              <a:srgbClr val="F0D5C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516" y="233172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82516" y="281635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Ko'tara olmaydigan kredit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82516" y="329184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oylik to'lovni aytadi, “ko'taradimi?” degan savolga javob bermaydi.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582516" y="411480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aylanmaning 31%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582516" y="448056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xavfli kredit yuki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157820" y="2057400"/>
            <a:ext cx="3611880" cy="2880360"/>
          </a:xfrm>
          <a:prstGeom prst="roundRect">
            <a:avLst>
              <a:gd name="adj" fmla="val 3175"/>
            </a:avLst>
          </a:prstGeom>
          <a:solidFill>
            <a:srgbClr val="FBEDE7"/>
          </a:solidFill>
          <a:ln w="12700">
            <a:solidFill>
              <a:srgbClr val="F0D5C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428" y="2331720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50428" y="281635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Foydalanilmagan imtiyoz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450428" y="329184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Yosh, soha yoki hudud bo'yicha davlat dasturiga haqli — lekin bilmaydi.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450428" y="411480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37 520 604 so'm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8450428" y="448056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yo'qotilgan tejash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21996" y="5166360"/>
            <a:ext cx="11347704" cy="868680"/>
          </a:xfrm>
          <a:prstGeom prst="roundRect">
            <a:avLst>
              <a:gd name="adj" fmla="val 10526"/>
            </a:avLst>
          </a:prstGeom>
          <a:solidFill>
            <a:srgbClr val="F1F6F3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14604" y="5166360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Maqsadli auditoriya (2 ta): </a:t>
            </a:r>
            <a:pPr indent="0" marL="0">
              <a:buNone/>
            </a:pPr>
            <a:r>
              <a:rPr lang="en-US" sz="13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— amaldagi YaTT/MChJ egalari   ·   B2B — buxgalter, konsultant va biznes-inkubatorlar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315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YECHIM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To'rtta hisob, bitta aniq javob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Tadbirkor biznesini bir marta kiritadi. Platforma zararsizlik nuqtasini, kredit yukini, eng arzon soliq rejimini va imtiyozga loyiqlikni hisoblab, aniq hukm chiqaradi.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6766560" cy="749808"/>
          </a:xfrm>
          <a:prstGeom prst="roundRect">
            <a:avLst>
              <a:gd name="adj" fmla="val 12195"/>
            </a:avLst>
          </a:prstGeom>
          <a:solidFill>
            <a:srgbClr val="F1F6F3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386584"/>
            <a:ext cx="457200" cy="457200"/>
          </a:xfrm>
          <a:prstGeom prst="ellipse">
            <a:avLst/>
          </a:prstGeom>
          <a:solidFill>
            <a:srgbClr val="DFF0E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248716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2331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Biznes-reja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25880" y="262432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Zararsizlik, qoplanish muddati, hukm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3108960"/>
            <a:ext cx="6766560" cy="749808"/>
          </a:xfrm>
          <a:prstGeom prst="roundRect">
            <a:avLst>
              <a:gd name="adj" fmla="val 12195"/>
            </a:avLst>
          </a:prstGeom>
          <a:solidFill>
            <a:srgbClr val="F1F6F3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3232" y="3255264"/>
            <a:ext cx="457200" cy="457200"/>
          </a:xfrm>
          <a:prstGeom prst="ellipse">
            <a:avLst/>
          </a:prstGeom>
          <a:solidFill>
            <a:srgbClr val="DFF0E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355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3200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Kredit va imtiyozlar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325880" y="349300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bank + 6 davlat dasturi bo'yicha loyiqlik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02920" y="3977640"/>
            <a:ext cx="6766560" cy="749808"/>
          </a:xfrm>
          <a:prstGeom prst="roundRect">
            <a:avLst>
              <a:gd name="adj" fmla="val 12195"/>
            </a:avLst>
          </a:prstGeom>
          <a:solidFill>
            <a:srgbClr val="F1F6F3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13232" y="4123944"/>
            <a:ext cx="457200" cy="457200"/>
          </a:xfrm>
          <a:prstGeom prst="ellipse">
            <a:avLst/>
          </a:prstGeom>
          <a:solidFill>
            <a:srgbClr val="DFF0E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22452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4069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Soliq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325880" y="436168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rejimlarini solishtirish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02920" y="4846320"/>
            <a:ext cx="6766560" cy="749808"/>
          </a:xfrm>
          <a:prstGeom prst="roundRect">
            <a:avLst>
              <a:gd name="adj" fmla="val 12195"/>
            </a:avLst>
          </a:prstGeom>
          <a:solidFill>
            <a:srgbClr val="F1F6F3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13232" y="4992624"/>
            <a:ext cx="457200" cy="457200"/>
          </a:xfrm>
          <a:prstGeom prst="ellipse">
            <a:avLst/>
          </a:prstGeom>
          <a:solidFill>
            <a:srgbClr val="DFF0E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5093208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25880" y="4937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Lokatsiya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325880" y="523036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Toshkent ↔ Navoiy taqqoslash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7543800" y="1417320"/>
            <a:ext cx="4160520" cy="2240280"/>
          </a:xfrm>
          <a:prstGeom prst="roundRect">
            <a:avLst>
              <a:gd name="adj" fmla="val 4082"/>
            </a:avLst>
          </a:prstGeom>
          <a:solidFill>
            <a:srgbClr val="DFF0E7"/>
          </a:solidFill>
          <a:ln w="12700">
            <a:solidFill>
              <a:srgbClr val="7FC4A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81812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O'ZIGA XOSLIGI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818120" y="19659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Hisobni matematika bajaradi.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faqat tushuntiradi.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7818120" y="27889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 modeli raqamga tegmaydi — noto'g'ri raqam tadbirkorga jarima degani. Barcha hisob deterministik kodda, 43 ta test bilan qulflangan.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7543800" y="3840480"/>
            <a:ext cx="4160520" cy="2194560"/>
          </a:xfrm>
          <a:prstGeom prst="roundRect">
            <a:avLst>
              <a:gd name="adj" fmla="val 4167"/>
            </a:avLst>
          </a:prstGeom>
          <a:solidFill>
            <a:srgbClr val="F1F6F3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818120" y="4041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 TAYYOR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7818120" y="43434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sahifa ishlaydi, jonli demo bor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 / ru / en — to'liq tarjima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izohi ulangan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315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BOZOR VA HAJMI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Ikki segment: B2C va B2B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380848" y="1463040"/>
            <a:ext cx="5486400" cy="3063240"/>
          </a:xfrm>
          <a:prstGeom prst="roundRect">
            <a:avLst>
              <a:gd name="adj" fmla="val 2985"/>
            </a:avLst>
          </a:prstGeom>
          <a:solidFill>
            <a:srgbClr val="F1F6F3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0888" y="1719072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2F7D5F"/>
          </a:solidFill>
          <a:ln/>
        </p:spPr>
      </p:sp>
      <p:sp>
        <p:nvSpPr>
          <p:cNvPr id="8" name="Text 6"/>
          <p:cNvSpPr/>
          <p:nvPr/>
        </p:nvSpPr>
        <p:spPr>
          <a:xfrm>
            <a:off x="700888" y="171907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0008" y="1700784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0888" y="22128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Tadbirkorning o'zi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00888" y="26334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Kim: Amaldagi YaTT va MChJ egalari, yangi biznes ochayotganlar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00888" y="3200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to'laydi: Har oy soliq, kredit va imtiyoz qarorlari — doimiy ehtiyoj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00888" y="3840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Obuna: 149 000 so'm/oy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324448" y="1463040"/>
            <a:ext cx="5486400" cy="3063240"/>
          </a:xfrm>
          <a:prstGeom prst="roundRect">
            <a:avLst>
              <a:gd name="adj" fmla="val 2985"/>
            </a:avLst>
          </a:prstGeom>
          <a:solidFill>
            <a:srgbClr val="E8F1EC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44488" y="1719072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2F7D5F"/>
          </a:solidFill>
          <a:ln/>
        </p:spPr>
      </p:sp>
      <p:sp>
        <p:nvSpPr>
          <p:cNvPr id="16" name="Text 13"/>
          <p:cNvSpPr/>
          <p:nvPr/>
        </p:nvSpPr>
        <p:spPr>
          <a:xfrm>
            <a:off x="6644488" y="171907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608" y="1700784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644488" y="22128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Xizmat ko'rsatuvchilar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6644488" y="26334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Kim: Buxgalteriya firmalari, konsultantlar, biznes-inkubatorlar, banklar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644488" y="3200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to'laydi: Bitta hisobda o'nlab mijozga xizmat — ish vaqti tejaladi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644488" y="3840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Biznes tarifi: 399 000 so'm/oy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380848" y="4754880"/>
            <a:ext cx="11430000" cy="1280160"/>
          </a:xfrm>
          <a:prstGeom prst="roundRect">
            <a:avLst>
              <a:gd name="adj" fmla="val 7143"/>
            </a:avLst>
          </a:prstGeom>
          <a:solidFill>
            <a:srgbClr val="DFF0E7"/>
          </a:solidFill>
          <a:ln w="12700">
            <a:solidFill>
              <a:srgbClr val="7FC4A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00888" y="475488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Bozor hajmi.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O'zbekistonda faoliyat yuritayotgan kichik biznes: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B4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[___ ming]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yiliga yangi ro'yxatdan o'tish: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B4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[___ ming]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Manba: O'zbekiston Respublikasi Statistika agentligi, 2026
</a:t>
            </a:r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Yillik daromad salohiyati = biznes soni × kirish ulushi × 149 000 × 12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315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RAQOBATCHILAR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Bozorda kim bor va bizning farqimiz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357988" y="1481328"/>
            <a:ext cx="3200400" cy="65836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58388" y="148132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Soliq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B6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hisobi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58588" y="148132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Kredit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B6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yuki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58788" y="148132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Imtiyoz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B6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topish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358988" y="148132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Lokatsiya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B6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tahlili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96348" y="148132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Manfaat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B6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to'qnashuvi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7988" y="2139696"/>
            <a:ext cx="3200400" cy="566928"/>
          </a:xfrm>
          <a:prstGeom prst="rect">
            <a:avLst/>
          </a:prstGeom>
          <a:solidFill>
            <a:srgbClr val="F1F6F3"/>
          </a:solidFill>
          <a:ln w="9525">
            <a:solidFill>
              <a:srgbClr val="D3E2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7988" y="2139696"/>
            <a:ext cx="3200400" cy="5669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Banklar (kalkulyator)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558388" y="2139696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3E2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8388" y="213969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158588" y="2139696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3E2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58588" y="213969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58788" y="2139696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3E2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8788" y="213969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358988" y="2139696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3E2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58988" y="213969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096348" y="2139696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3E2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96348" y="213969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57988" y="2706624"/>
            <a:ext cx="3200400" cy="566928"/>
          </a:xfrm>
          <a:prstGeom prst="rect">
            <a:avLst/>
          </a:prstGeom>
          <a:solidFill>
            <a:srgbClr val="F1F6F3"/>
          </a:solidFill>
          <a:ln w="9525">
            <a:solidFill>
              <a:srgbClr val="D3E2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7988" y="2706624"/>
            <a:ext cx="3200400" cy="5669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Davlat raqamli platformasi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558388" y="2706624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3E2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58388" y="270662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158588" y="2706624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3E2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58588" y="270662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758788" y="2706624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3E2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58788" y="270662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qisman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358988" y="2706624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3E2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58988" y="270662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10096348" y="2706624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3E2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96348" y="270662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57988" y="3273552"/>
            <a:ext cx="3200400" cy="566928"/>
          </a:xfrm>
          <a:prstGeom prst="rect">
            <a:avLst/>
          </a:prstGeom>
          <a:solidFill>
            <a:srgbClr val="F1F6F3"/>
          </a:solidFill>
          <a:ln w="9525">
            <a:solidFill>
              <a:srgbClr val="D3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7988" y="3273552"/>
            <a:ext cx="3200400" cy="5669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Buxgalter / konsultant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558388" y="3273552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3E2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58388" y="327355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158588" y="3273552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3E2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58588" y="327355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758788" y="3273552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3E2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58788" y="327355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qisman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358988" y="3273552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3E2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58988" y="32735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10096348" y="3273552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3E2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96348" y="32735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yo'q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357988" y="3840480"/>
            <a:ext cx="3200400" cy="566928"/>
          </a:xfrm>
          <a:prstGeom prst="rect">
            <a:avLst/>
          </a:prstGeom>
          <a:solidFill>
            <a:srgbClr val="DFF0E7"/>
          </a:solidFill>
          <a:ln w="9525">
            <a:solidFill>
              <a:srgbClr val="D3E2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7988" y="3840480"/>
            <a:ext cx="3200400" cy="5669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 AI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3558388" y="3840480"/>
            <a:ext cx="1600200" cy="566928"/>
          </a:xfrm>
          <a:prstGeom prst="rect">
            <a:avLst/>
          </a:prstGeom>
          <a:solidFill>
            <a:srgbClr val="DFF0E7"/>
          </a:solidFill>
          <a:ln w="9525">
            <a:solidFill>
              <a:srgbClr val="D3E2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58388" y="38404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5158588" y="3840480"/>
            <a:ext cx="1600200" cy="566928"/>
          </a:xfrm>
          <a:prstGeom prst="rect">
            <a:avLst/>
          </a:prstGeom>
          <a:solidFill>
            <a:srgbClr val="DFF0E7"/>
          </a:solidFill>
          <a:ln w="9525">
            <a:solidFill>
              <a:srgbClr val="D3E2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58588" y="38404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6758788" y="3840480"/>
            <a:ext cx="1600200" cy="566928"/>
          </a:xfrm>
          <a:prstGeom prst="rect">
            <a:avLst/>
          </a:prstGeom>
          <a:solidFill>
            <a:srgbClr val="DFF0E7"/>
          </a:solidFill>
          <a:ln w="9525">
            <a:solidFill>
              <a:srgbClr val="D3E2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58788" y="38404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8358988" y="3840480"/>
            <a:ext cx="1737360" cy="566928"/>
          </a:xfrm>
          <a:prstGeom prst="rect">
            <a:avLst/>
          </a:prstGeom>
          <a:solidFill>
            <a:srgbClr val="DFF0E7"/>
          </a:solidFill>
          <a:ln w="9525">
            <a:solidFill>
              <a:srgbClr val="D3E2D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58988" y="38404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10096348" y="3840480"/>
            <a:ext cx="1737360" cy="566928"/>
          </a:xfrm>
          <a:prstGeom prst="rect">
            <a:avLst/>
          </a:prstGeom>
          <a:solidFill>
            <a:srgbClr val="DFF0E7"/>
          </a:solidFill>
          <a:ln w="9525">
            <a:solidFill>
              <a:srgbClr val="D3E2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096348" y="38404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yo'q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357988" y="4663440"/>
            <a:ext cx="11475720" cy="1371600"/>
          </a:xfrm>
          <a:prstGeom prst="roundRect">
            <a:avLst>
              <a:gd name="adj" fmla="val 6667"/>
            </a:avLst>
          </a:prstGeom>
          <a:solidFill>
            <a:srgbClr val="F1F6F3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2308" y="4663440"/>
            <a:ext cx="10927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Bizning farqimiz — birlashtirish va mustaqillik.  </a:t>
            </a:r>
            <a:pPr indent="0" marL="0">
              <a:buNone/>
            </a:pPr>
            <a:r>
              <a:rPr lang="en-US" sz="125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Banklar va davlat platformasi o'z ishini yaxshi bajaradi: ular kredit beradi va arizani soddalashtiradi. Lekin ularning daromadi kredit berilishiga bog'liq — shuning uchun ular hech qachon “bu kreditni olmang” demaydi. Bizning daromadimiz obunadan, shuning uchun ayta olamiz.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315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BIZNES MODELI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Obuna — B2C va B2B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1F6F3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642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Bepul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indent="0" marL="0">
              <a:buNone/>
            </a:pP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77240" y="254203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asbobdan oyiga 3 hisob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46304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DFF0E7"/>
          </a:solidFill>
          <a:ln w="12700">
            <a:solidFill>
              <a:srgbClr val="7FC4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6642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(B2C)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6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149 000</a:t>
            </a:r>
            <a:pPr indent="0" marL="0">
              <a:buNone/>
            </a:pPr>
            <a:r>
              <a:rPr lang="en-US" sz="120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so'm/oy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663440" y="254203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Cheksiz hisob · AI maslahat · saqlangan profil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75320" y="146304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1F6F3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16642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Biznes (B2B)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4964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399 000</a:t>
            </a:r>
            <a:pPr indent="0" marL="0">
              <a:buNone/>
            </a:pPr>
            <a:r>
              <a:rPr lang="en-US" sz="120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so'm/oy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549640" y="254203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mijoz profili · buxgalter va konsultantlar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794760"/>
            <a:ext cx="11430000" cy="2148840"/>
          </a:xfrm>
          <a:prstGeom prst="roundRect">
            <a:avLst>
              <a:gd name="adj" fmla="val 4255"/>
            </a:avLst>
          </a:prstGeom>
          <a:solidFill>
            <a:srgbClr val="F1F6F3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005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 IQTISODIYOTI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434340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AI javob tannarxi (Gemini)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863840" y="43434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6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~59 so'm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47274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obunachi xarajati (60 javob + infra)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863840" y="47274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6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~3 900 so'm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5111496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Yalpi marja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863840" y="511149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6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5495544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Zararsizlik nuqtasi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863840" y="549554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6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obunachi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756855" y="1463040"/>
            <a:ext cx="3931920" cy="2148840"/>
          </a:xfrm>
          <a:prstGeom prst="roundRect">
            <a:avLst>
              <a:gd name="adj" fmla="val 4255"/>
            </a:avLst>
          </a:prstGeom>
          <a:solidFill>
            <a:srgbClr val="E8F1EC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31175" y="1664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OQIMLAR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31175" y="20116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Bankka yo'naltirish komissiyasi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Inkubator va akselератorlar bilan shartnoma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Buxgalteriya xizmatlari hamkorligi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315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LOYIHA HOLATI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tayyor — foydalanuvchi yig'ish bosqichi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357988" y="1463040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DFF0E7"/>
          </a:solidFill>
          <a:ln w="12700">
            <a:solidFill>
              <a:srgbClr val="7FC4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7988" y="14630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G'oya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89708" y="1463040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DFF0E7"/>
          </a:solidFill>
          <a:ln w="12700">
            <a:solidFill>
              <a:srgbClr val="7FC4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89708" y="14630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1428" y="1463040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DFF0E7"/>
          </a:solidFill>
          <a:ln w="12700">
            <a:solidFill>
              <a:srgbClr val="7FC4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1428" y="14630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tayyor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53148" y="1463040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53148" y="14630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Birinchi mijozlar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684868" y="1463040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84868" y="14630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O'sish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1428" y="2148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hozir shu yerdamiz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8280" y="260604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F1F6F3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4312" y="2734056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6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42 000+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64312" y="3191256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qator ishlab chiqarish kodi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67048" y="260604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F1F6F3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3080" y="2734056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6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4523080" y="3191256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ishlaydigan sahifa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25816" y="260604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F1F6F3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81848" y="2734056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6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381848" y="3191256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til: uz / ru / en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08280" y="3858768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F1F6F3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4312" y="398678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6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664312" y="4443984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avtomatik test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267048" y="3858768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F1F6F3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3080" y="398678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6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+ 6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4523080" y="4443984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+ davlat dasturi bazasi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25816" y="3858768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F1F6F3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81848" y="398678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6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8381848" y="4443984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 aniqligi — AI'siz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08280" y="5074920"/>
            <a:ext cx="11375136" cy="914400"/>
          </a:xfrm>
          <a:prstGeom prst="roundRect">
            <a:avLst>
              <a:gd name="adj" fmla="val 10000"/>
            </a:avLst>
          </a:prstGeom>
          <a:solidFill>
            <a:srgbClr val="DFF0E7"/>
          </a:solidFill>
          <a:ln w="12700">
            <a:solidFill>
              <a:srgbClr val="7FC4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2600" y="5074920"/>
            <a:ext cx="10826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Jonli demo:  </a:t>
            </a:r>
            <a:pPr indent="0" marL="0">
              <a:buNone/>
            </a:pPr>
            <a:r>
              <a:rPr lang="en-US" sz="1300" b="1" dirty="0">
                <a:solidFill>
                  <a:srgbClr val="1E6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demo@phoenix.uz / Phoenix2026!</a:t>
            </a:r>
            <a:pPr indent="0" marL="0">
              <a:buNone/>
            </a:pPr>
            <a:r>
              <a:rPr lang="en-US" sz="12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Sotuv hali boshlanmagan — keyingi 3 oyda birinchi 100 pullik obunachi maqsadi.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315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JAMOA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 qurdi va nima qila oladi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197968" y="1508760"/>
            <a:ext cx="2212848" cy="3703320"/>
          </a:xfrm>
          <a:prstGeom prst="roundRect">
            <a:avLst>
              <a:gd name="adj" fmla="val 4132"/>
            </a:avLst>
          </a:prstGeom>
          <a:solidFill>
            <a:srgbClr val="F1F6F3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2892" y="1783080"/>
            <a:ext cx="1143000" cy="1143000"/>
          </a:xfrm>
          <a:prstGeom prst="ellipse">
            <a:avLst/>
          </a:prstGeom>
          <a:solidFill>
            <a:srgbClr val="DFF0E7"/>
          </a:solidFill>
          <a:ln w="19050">
            <a:solidFill>
              <a:srgbClr val="7FC4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2892" y="17830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7D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35128" y="306324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Ruziyeva Fotima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35128" y="356616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· Front-end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2560" y="393192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Next.js, React — mahsulot interfeysi va dizayn tizimi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93696" y="1508760"/>
            <a:ext cx="2212848" cy="3703320"/>
          </a:xfrm>
          <a:prstGeom prst="roundRect">
            <a:avLst>
              <a:gd name="adj" fmla="val 4132"/>
            </a:avLst>
          </a:prstGeom>
          <a:solidFill>
            <a:srgbClr val="F1F6F3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28620" y="1783080"/>
            <a:ext cx="1143000" cy="1143000"/>
          </a:xfrm>
          <a:prstGeom prst="ellipse">
            <a:avLst/>
          </a:prstGeom>
          <a:solidFill>
            <a:srgbClr val="DFF0E7"/>
          </a:solidFill>
          <a:ln w="19050">
            <a:solidFill>
              <a:srgbClr val="7FC4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8620" y="17830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7D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30856" y="306324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Mansurov Umidjon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30856" y="356616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Moliya menejeri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58288" y="393192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Soliq rejimlari, kredit formulalari, biznes model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89424" y="1508760"/>
            <a:ext cx="2212848" cy="3703320"/>
          </a:xfrm>
          <a:prstGeom prst="roundRect">
            <a:avLst>
              <a:gd name="adj" fmla="val 4132"/>
            </a:avLst>
          </a:prstGeom>
          <a:solidFill>
            <a:srgbClr val="F1F6F3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24348" y="1783080"/>
            <a:ext cx="1143000" cy="1143000"/>
          </a:xfrm>
          <a:prstGeom prst="ellipse">
            <a:avLst/>
          </a:prstGeom>
          <a:solidFill>
            <a:srgbClr val="DFF0E7"/>
          </a:solidFill>
          <a:ln w="19050">
            <a:solidFill>
              <a:srgbClr val="7FC4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24348" y="17830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7D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126584" y="306324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Maxmudov Samandar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126584" y="356616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dasturchi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54016" y="393192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ma'lumotlar bazasi, hisob dvigateli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85152" y="1508760"/>
            <a:ext cx="2212848" cy="3703320"/>
          </a:xfrm>
          <a:prstGeom prst="roundRect">
            <a:avLst>
              <a:gd name="adj" fmla="val 4132"/>
            </a:avLst>
          </a:prstGeom>
          <a:solidFill>
            <a:srgbClr val="F1F6F3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20076" y="1783080"/>
            <a:ext cx="1143000" cy="1143000"/>
          </a:xfrm>
          <a:prstGeom prst="ellipse">
            <a:avLst/>
          </a:prstGeom>
          <a:solidFill>
            <a:srgbClr val="DFF0E7"/>
          </a:solidFill>
          <a:ln w="19050">
            <a:solidFill>
              <a:srgbClr val="7FC4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20076" y="17830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7D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522312" y="306324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Shodiyeva Shaxzoda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522312" y="356616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dizayner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49744" y="393192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Brend, logotip va vizual identifikatsiya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780880" y="1508760"/>
            <a:ext cx="2212848" cy="3703320"/>
          </a:xfrm>
          <a:prstGeom prst="roundRect">
            <a:avLst>
              <a:gd name="adj" fmla="val 4132"/>
            </a:avLst>
          </a:prstGeom>
          <a:solidFill>
            <a:srgbClr val="F1F6F3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15804" y="1783080"/>
            <a:ext cx="1143000" cy="1143000"/>
          </a:xfrm>
          <a:prstGeom prst="ellipse">
            <a:avLst/>
          </a:prstGeom>
          <a:solidFill>
            <a:srgbClr val="DFF0E7"/>
          </a:solidFill>
          <a:ln w="19050">
            <a:solidFill>
              <a:srgbClr val="7FC4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15804" y="17830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7D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918040" y="306324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Shodiyeva Sabina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918040" y="356616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dizayner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945472" y="393192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Taqdimot grafikasi va marketing materiallari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97968" y="5394960"/>
            <a:ext cx="11795760" cy="685800"/>
          </a:xfrm>
          <a:prstGeom prst="roundRect">
            <a:avLst>
              <a:gd name="adj" fmla="val 13333"/>
            </a:avLst>
          </a:prstGeom>
          <a:solidFill>
            <a:srgbClr val="F1F6F3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2288" y="5394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mahsulotni noldan qurdi: 42 000 qator kod, ishlaydigan MVP va uch tilli interfeys — hammasi shu tarkib bilan.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315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RIVOJLANISH REJASI VA SARMOYA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oyda zararsizlikka chiqish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4846320" cy="2011680"/>
          </a:xfrm>
          <a:prstGeom prst="roundRect">
            <a:avLst>
              <a:gd name="adj" fmla="val 4545"/>
            </a:avLst>
          </a:prstGeom>
          <a:solidFill>
            <a:srgbClr val="DFF0E7"/>
          </a:solidFill>
          <a:ln w="12700">
            <a:solidFill>
              <a:srgbClr val="7FC4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642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SO'RALAYOTGAN SARMOYA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6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200 000 000 so'm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oylik ish muddati uchun. Bu summa zararsizlikka chiqishga yetadi — ortiqcha so'ramayapmiz.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11880"/>
            <a:ext cx="4846320" cy="2423160"/>
          </a:xfrm>
          <a:prstGeom prst="roundRect">
            <a:avLst>
              <a:gd name="adj" fmla="val 3774"/>
            </a:avLst>
          </a:prstGeom>
          <a:solidFill>
            <a:srgbClr val="F1F6F3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794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QAYERGA SARFLANADI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4114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va mijoz jalb qilish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41148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6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mln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41148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572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(2 dasturchi)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45720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6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mln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26280" y="45720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5029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 bazasi va huquqiy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50292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6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mln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6280" y="50292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486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Infratuzilma va AI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6160" y="54864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6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mln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26280" y="54864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15000" y="1463040"/>
            <a:ext cx="5973775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16642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REJA VA KUTILAYOTGAN NATIJA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2148840"/>
            <a:ext cx="384048" cy="384048"/>
          </a:xfrm>
          <a:prstGeom prst="ellipse">
            <a:avLst/>
          </a:prstGeom>
          <a:solidFill>
            <a:srgbClr val="2F7D5F"/>
          </a:solidFill>
          <a:ln w="12700">
            <a:solidFill>
              <a:srgbClr val="7FC4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2103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oy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92240" y="2423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ishga tushirish, soliq ma'lumotini buxgalter bilan tasdiqlash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646920" y="2148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6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ro'yxat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989320" y="3108960"/>
            <a:ext cx="384048" cy="384048"/>
          </a:xfrm>
          <a:prstGeom prst="ellipse">
            <a:avLst/>
          </a:prstGeom>
          <a:solidFill>
            <a:srgbClr val="DFF0E7"/>
          </a:solidFill>
          <a:ln w="12700">
            <a:solidFill>
              <a:srgbClr val="7FC4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D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92240" y="3063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 oy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92240" y="3383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bot, to'lov tizimi (Payme/Click), B2B sinov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646920" y="3108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6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pullik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989320" y="4069080"/>
            <a:ext cx="384048" cy="384048"/>
          </a:xfrm>
          <a:prstGeom prst="ellipse">
            <a:avLst/>
          </a:prstGeom>
          <a:solidFill>
            <a:srgbClr val="DFF0E7"/>
          </a:solidFill>
          <a:ln w="12700">
            <a:solidFill>
              <a:srgbClr val="7FC4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8932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D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92240" y="4023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5–8 oy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492240" y="4343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hamkorligi, inkubatorlar bilan shartnoma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646920" y="4069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6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pullik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989320" y="5029200"/>
            <a:ext cx="384048" cy="384048"/>
          </a:xfrm>
          <a:prstGeom prst="ellipse">
            <a:avLst/>
          </a:prstGeom>
          <a:solidFill>
            <a:srgbClr val="DFF0E7"/>
          </a:solidFill>
          <a:ln w="12700">
            <a:solidFill>
              <a:srgbClr val="7FC4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8932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D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92240" y="4983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9–12 oy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492240" y="5303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Hududlarni kengaytirish, jamoani kuchaytirish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9646920" y="5029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6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zararsizlik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315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5768" y="77724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19456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300" kern="0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 </a:t>
            </a:r>
            <a:pPr algn="ctr" indent="0" marL="0">
              <a:buNone/>
            </a:pPr>
            <a:r>
              <a:rPr lang="en-US" sz="3400" b="1" spc="300" kern="0" dirty="0">
                <a:solidFill>
                  <a:srgbClr val="2F7D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27432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G'OYADAN — O'SISHGACHA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194560" y="3383280"/>
            <a:ext cx="7772400" cy="1965960"/>
          </a:xfrm>
          <a:prstGeom prst="roundRect">
            <a:avLst>
              <a:gd name="adj" fmla="val 4651"/>
            </a:avLst>
          </a:prstGeom>
          <a:solidFill>
            <a:srgbClr val="F1F6F3"/>
          </a:solidFill>
          <a:ln w="12700">
            <a:solidFill>
              <a:srgbClr val="D3E2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0" y="3383280"/>
            <a:ext cx="7223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info@phoenix-ai.uz
</a:t>
            </a:r>
            <a:pPr algn="ctr"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+998 [__] [___ __ __]
</a:t>
            </a:r>
            <a:pPr algn="ctr" indent="0" marL="0">
              <a:lnSpc>
                <a:spcPts val="3400"/>
              </a:lnSpc>
              <a:buNone/>
            </a:pPr>
            <a:r>
              <a:rPr lang="en-US" sz="1600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phoenix-ai.uz   ·   t.me/phoenixai_uz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0" y="55778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Jonli demo:  demo@phoenix.uz  /  Phoenix2026!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Phoenix AI — startap taqdimoti</dc:title>
  <dc:subject>PptxGenJS Presentation</dc:subject>
  <dc:creator>Phoenix AI</dc:creator>
  <cp:lastModifiedBy>Phoenix AI</cp:lastModifiedBy>
  <cp:revision>1</cp:revision>
  <dcterms:created xsi:type="dcterms:W3CDTF">2026-08-12T18:06:52Z</dcterms:created>
  <dcterms:modified xsi:type="dcterms:W3CDTF">2026-08-12T18:06:52Z</dcterms:modified>
</cp:coreProperties>
</file>