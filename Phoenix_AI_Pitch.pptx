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soniya. Ism + rol. Bir jumla: 'Biz kichik tadbirkorga buxgalter o'rnini bosuvchi aniq hisob-kitob beramiz.' Demo login slaydda ko'rinib turibdi — jury xohlasa o'zi kirib ko'radi.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soniya. Og'riq — yo'qolayotgan pul, qulaylik emas. Uchala raqam ham mahsulot dvigatelida hisoblangan, o'ylab topilmagan.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soniya. 'Biz nima beramiz' — to'rtta asbob bitta profilda. O'ng tarafdagi raqam saytda real vaqtda hisoblanadi, slaydga yozib qo'yilmagan.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soniya. ENG MUHIM SLAYD. 37.7 mln = 25.2 mln soliq + ~12.5 mln kredit farqi (37.5 mln / 3 yil). Bu NAMUNAVIY ssenariy — shunday deb ayting, 'har bir mijoz shuncha tejaydi' demang.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soniya. Agar vaqt kam bo'lsa — bu slaydni tashlab, to'g'ridan-to'g'ri jonli demoga o'ting.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soniya. MUHIM: taqdimotdan oldin Statistika qo'mitasidan aniq raqam qo'shing. Talabalar to'lamaydi — ular hajm va kelajakdagi foydalanuvchi, buni o'zingiz ayting.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soniya. Narx asosi: buxgalter konsultatsiyasi 100–300 ming so'm, biz oyiga 29 000. 404 obunachi = 11.5 mln so'm oylik doimiy xarajat / 28 500 hissa. Narx bozor testidan o'tmagan — so'rashsa halol ayting.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soniya. Halol traction: mahsulot tayyor, foydalanuvchi yo'q. Buni o'zingiz aytsangiz — ishonch ortadi. Jury'ga jonli demo taklif qiling.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soniya. Manfaatlar to'qnashuvi yo'qligi — asosiy differensiator. Davlat platformasini o'zingiz eslatib o'ting, jury eslatishini kutmang.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soniya. Birinchi ustun — taqdimotdan oldin ham bajarilishi kerak bo'lgan ishlar. Bu jiddiylikni ko'rsatadi.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soniya. RASMLAR: doira o'rniga foto qo'ying (Insert &gt; Pictures &gt; Crop to Shape &gt; Oval). DIQQAT: Shodiyeva Shaxzodaning roli taxmin qilindi — to'g'rilang. Taqdimotchi (CEO) kartasi yo'q — o'zingizni qo'shing.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1208" y="365760"/>
            <a:ext cx="5669280" cy="566928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8" y="960120"/>
            <a:ext cx="1554480" cy="15544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26060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600" kern="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PHOENIX AI</a:t>
            </a:r>
            <a:endParaRPr lang="en-US" sz="4400" dirty="0"/>
          </a:p>
        </p:txBody>
      </p:sp>
      <p:sp>
        <p:nvSpPr>
          <p:cNvPr id="5" name="Text 1"/>
          <p:cNvSpPr/>
          <p:nvPr/>
        </p:nvSpPr>
        <p:spPr>
          <a:xfrm>
            <a:off x="0" y="342900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600" kern="0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G'OYADAN — O'SISHGACHA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0" y="397764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Kichik tadbirkorlar uchun AI moliyaviy maslahatchi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Biznes-reja  ·  Kredit va imtiyozlar  ·  Soliq  ·  Lokatsiya tahlili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3444088" y="5212080"/>
            <a:ext cx="5303520" cy="777240"/>
          </a:xfrm>
          <a:prstGeom prst="roundRect">
            <a:avLst>
              <a:gd name="adj" fmla="val 10588"/>
            </a:avLst>
          </a:prstGeom>
          <a:solidFill>
            <a:srgbClr val="17231C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3626968" y="52120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Jonli demo:  </a:t>
            </a:r>
            <a:pPr algn="ctr" indent="0" marL="0">
              <a:buNone/>
            </a:pPr>
            <a:r>
              <a:rPr lang="en-US" sz="1250" b="1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demo@phoenix.uz  /  Phoenix2026!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MUAMMO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Muammo qulaylikda emas — pulda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Kichik tadbirkor buxgalter yollay olmaydi. Shuning uchun moliyaviy qarorlarni ko'r-ko'rona qabul qiladi — va bu qarorlar unga haqiqiy pulga tushadi.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9428" y="2148840"/>
            <a:ext cx="3611880" cy="3246120"/>
          </a:xfrm>
          <a:prstGeom prst="roundRect">
            <a:avLst>
              <a:gd name="adj" fmla="val 2535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3748" y="2468880"/>
            <a:ext cx="566928" cy="566928"/>
          </a:xfrm>
          <a:prstGeom prst="ellipse">
            <a:avLst/>
          </a:prstGeom>
          <a:solidFill>
            <a:srgbClr val="2B1B1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472" y="2593604"/>
            <a:ext cx="317480" cy="317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3748" y="32004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Noto'g'ri soliq rejimi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23748" y="37033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 oy ortiqcha to'laysiz. Zarar ko'rinmaydi — shuning uchun hech kim tuzatmaydi.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23748" y="4663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25 200 000 so'm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23748" y="50109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yiliga (namunaviy do'kon)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289908" y="2148840"/>
            <a:ext cx="3611880" cy="3246120"/>
          </a:xfrm>
          <a:prstGeom prst="roundRect">
            <a:avLst>
              <a:gd name="adj" fmla="val 2535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64228" y="2468880"/>
            <a:ext cx="566928" cy="566928"/>
          </a:xfrm>
          <a:prstGeom prst="ellipse">
            <a:avLst/>
          </a:prstGeom>
          <a:solidFill>
            <a:srgbClr val="2B1B1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952" y="259360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564228" y="32004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Ko'tara olmaydigan kredit</a:t>
            </a:r>
            <a:endParaRPr lang="en-US" sz="1550" dirty="0"/>
          </a:p>
        </p:txBody>
      </p:sp>
      <p:sp>
        <p:nvSpPr>
          <p:cNvPr id="18" name="Text 14"/>
          <p:cNvSpPr/>
          <p:nvPr/>
        </p:nvSpPr>
        <p:spPr>
          <a:xfrm>
            <a:off x="4564228" y="37033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oylik to'lovni aytadi. “Biznesingiz buni ko'taradimi?” — deb so'ramaydi.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4564228" y="4663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aylanmaning 31% i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4564228" y="50109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xavfli zonadagi kredit yuki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30388" y="2148840"/>
            <a:ext cx="3611880" cy="3246120"/>
          </a:xfrm>
          <a:prstGeom prst="roundRect">
            <a:avLst>
              <a:gd name="adj" fmla="val 2535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404708" y="2468880"/>
            <a:ext cx="566928" cy="566928"/>
          </a:xfrm>
          <a:prstGeom prst="ellipse">
            <a:avLst/>
          </a:prstGeom>
          <a:solidFill>
            <a:srgbClr val="2B1B1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9432" y="2593604"/>
            <a:ext cx="317480" cy="3174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404708" y="32004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Bilmagan imtiyoz</a:t>
            </a:r>
            <a:endParaRPr lang="en-US" sz="1550" dirty="0"/>
          </a:p>
        </p:txBody>
      </p:sp>
      <p:sp>
        <p:nvSpPr>
          <p:cNvPr id="25" name="Text 20"/>
          <p:cNvSpPr/>
          <p:nvPr/>
        </p:nvSpPr>
        <p:spPr>
          <a:xfrm>
            <a:off x="8404708" y="37033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Yosh, soha yoki hudud bo'yicha imtiyozga haqlisiz. Bank buni aytmaydi.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8404708" y="4663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37 520 604 so'm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8404708" y="50109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yo'qotilgan tejash (misol)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502920" y="571500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 bo'lmasa odam nima qiladi?” — </a:t>
            </a:r>
            <a:pPr indent="0" marL="0">
              <a:buNone/>
            </a:pPr>
            <a:r>
              <a:rPr lang="en-US" sz="1350" b="1" i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 narsa. Bilmaganicha qoladi va to'lab yuraveradi.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YECHIM — BIZ NIMA BERAMIZ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To'rtta asbob, bitta aniq javob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035040" cy="914400"/>
          </a:xfrm>
          <a:prstGeom prst="roundRect">
            <a:avLst>
              <a:gd name="adj" fmla="val 90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591056"/>
            <a:ext cx="566928" cy="566928"/>
          </a:xfrm>
          <a:prstGeom prst="ellipse">
            <a:avLst/>
          </a:prstGeom>
          <a:solidFill>
            <a:srgbClr val="1E2F2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524" y="1715780"/>
            <a:ext cx="317480" cy="317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52704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maslahatchi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417320" y="184708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Suhbat orqali savol beradi, hisobni o'zi bajaradi va natijani tushuntiradi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2478024"/>
            <a:ext cx="6035040" cy="914400"/>
          </a:xfrm>
          <a:prstGeom prst="roundRect">
            <a:avLst>
              <a:gd name="adj" fmla="val 90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" y="2651760"/>
            <a:ext cx="566928" cy="566928"/>
          </a:xfrm>
          <a:prstGeom prst="ellipse">
            <a:avLst/>
          </a:prstGeom>
          <a:solidFill>
            <a:srgbClr val="1E2F2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524" y="2776484"/>
            <a:ext cx="317480" cy="317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17320" y="25877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Biznes-reja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1417320" y="29077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Zararsizlik, qoplanish muddati — va hukm: ishlaydi / chegarada / yo'q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02920" y="3538728"/>
            <a:ext cx="6035040" cy="914400"/>
          </a:xfrm>
          <a:prstGeom prst="roundRect">
            <a:avLst>
              <a:gd name="adj" fmla="val 90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" y="3712464"/>
            <a:ext cx="566928" cy="566928"/>
          </a:xfrm>
          <a:prstGeom prst="ellipse">
            <a:avLst/>
          </a:prstGeom>
          <a:solidFill>
            <a:srgbClr val="1E2F2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524" y="3837188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17320" y="364845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Kredit va imtiyozlar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417320" y="39684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Kredit yuki + siz haqli bo'lgan davlat dasturlari (12 bank, 6 dastur)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02920" y="4599432"/>
            <a:ext cx="6035040" cy="914400"/>
          </a:xfrm>
          <a:prstGeom prst="roundRect">
            <a:avLst>
              <a:gd name="adj" fmla="val 90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85800" y="4773168"/>
            <a:ext cx="566928" cy="566928"/>
          </a:xfrm>
          <a:prstGeom prst="ellipse">
            <a:avLst/>
          </a:prstGeom>
          <a:solidFill>
            <a:srgbClr val="1E2F27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524" y="4897892"/>
            <a:ext cx="317480" cy="317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17320" y="4709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Soliq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1417320" y="5029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rejimlarini solishtiradi — eng arzonini tanlaydi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903720" y="1417320"/>
            <a:ext cx="4754880" cy="2651760"/>
          </a:xfrm>
          <a:prstGeom prst="roundRect">
            <a:avLst>
              <a:gd name="adj" fmla="val 3103"/>
            </a:avLst>
          </a:prstGeom>
          <a:solidFill>
            <a:srgbClr val="17231C"/>
          </a:solidFill>
          <a:ln w="12700">
            <a:solidFill>
              <a:srgbClr val="6B5A2E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178040" y="1691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TADBIRKOR KO'RMAYDIGAN FARQ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7178040" y="20574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51 738 912 so'm</a:t>
            </a:r>
            <a:endParaRPr lang="en-US" sz="3000" dirty="0"/>
          </a:p>
        </p:txBody>
      </p:sp>
      <p:sp>
        <p:nvSpPr>
          <p:cNvPr id="29" name="Text 23"/>
          <p:cNvSpPr/>
          <p:nvPr/>
        </p:nvSpPr>
        <p:spPr>
          <a:xfrm>
            <a:off x="7178040" y="27889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 xil 200 mln so'mlik kredit, 36 oyga: 14% da olsangiz 28% ga nisbatan shuncha tejaysiz. Tadbirkor buni ko'rmaydi — u bitta bankka boradi.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6903720" y="4251960"/>
            <a:ext cx="4754880" cy="1417320"/>
          </a:xfrm>
          <a:prstGeom prst="roundRect">
            <a:avLst>
              <a:gd name="adj" fmla="val 5806"/>
            </a:avLst>
          </a:prstGeom>
          <a:solidFill>
            <a:srgbClr val="13291F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178040" y="44348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Hisobni matematika bajaradi.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faqat tushuntiradi.</a:t>
            </a:r>
            <a:endParaRPr lang="en-US" sz="1500" dirty="0"/>
          </a:p>
        </p:txBody>
      </p:sp>
      <p:sp>
        <p:nvSpPr>
          <p:cNvPr id="32" name="Text 26"/>
          <p:cNvSpPr/>
          <p:nvPr/>
        </p:nvSpPr>
        <p:spPr>
          <a:xfrm>
            <a:off x="7178040" y="5120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Noto'g'ri raqam — tadbirkorga jarima. Shuning uchun raqamlar deterministik kodda, AI'da emas.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FOYDA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Tadbirkor nima yutadi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1C1416"/>
          </a:solidFill>
          <a:ln w="12700">
            <a:solidFill>
              <a:srgbClr val="5A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PHOENIX'SIZ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Soliq rejimi tavakkaliga tanlanadi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aytgan foizga rozi bo'ladi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Imtiyoz borligini bilmaydi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Qaysi shahar arzonligini taxmin qiladi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Buxgalter uchun 100–300 ming so'm to'laydi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41732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13291F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20840" y="16459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FE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 BILAN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20840" y="210312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 arzon rejim raqam bilan ko'rsatiladi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bank solishtiriladi — farq ko'rinadi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Loyiq dasturlar avtomatik topiladi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Ikki shahar yonma-yon taqqoslanadi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Oyiga 29 000 so'm, javob 30 soniyada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5440680"/>
            <a:ext cx="11292840" cy="868680"/>
          </a:xfrm>
          <a:prstGeom prst="roundRect">
            <a:avLst>
              <a:gd name="adj" fmla="val 9474"/>
            </a:avLst>
          </a:prstGeom>
          <a:solidFill>
            <a:srgbClr val="17231C"/>
          </a:solidFill>
          <a:ln w="12700">
            <a:solidFill>
              <a:srgbClr val="6B5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440680"/>
            <a:ext cx="10652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Namunaviy yillik ta'sir: </a:t>
            </a:r>
            <a:pPr indent="0" marL="0">
              <a:buNone/>
            </a:pPr>
            <a:r>
              <a:rPr lang="en-US" sz="15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~37 700 000 so'm tejash</a:t>
            </a:r>
            <a:pPr indent="0" marL="0">
              <a:buNone/>
            </a:pPr>
            <a:r>
              <a:rPr lang="en-US" sz="13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obuna </a:t>
            </a:r>
            <a:pPr indent="0" marL="0">
              <a:buNone/>
            </a:pPr>
            <a:r>
              <a:rPr lang="en-US" sz="1350" b="1" dirty="0">
                <a:solidFill>
                  <a:srgbClr val="F2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348 000 so'm/yil</a:t>
            </a:r>
            <a:pPr indent="0" marL="0">
              <a:buNone/>
            </a:pPr>
            <a:r>
              <a:rPr lang="en-US" sz="13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</a:t>
            </a:r>
            <a:pPr indent="0" marL="0">
              <a:buNone/>
            </a:pPr>
            <a:r>
              <a:rPr lang="en-US" sz="1400" b="1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108× qaytim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QANDAY ISHLAYDI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 marta kiritadi — to'rt joyda ishlaydi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57988" y="1554480"/>
            <a:ext cx="2697480" cy="3108960"/>
          </a:xfrm>
          <a:prstGeom prst="roundRect">
            <a:avLst>
              <a:gd name="adj" fmla="val 3051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4120" y="1874520"/>
            <a:ext cx="585216" cy="585216"/>
          </a:xfrm>
          <a:prstGeom prst="ellipse">
            <a:avLst/>
          </a:prstGeom>
          <a:solidFill>
            <a:srgbClr val="3BC98A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4120" y="18745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13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86588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Biznes profili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6588" y="315468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Soha, shahar, kapital, xodim, ijara — 8 ta savol. Bir marta.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84068" y="1554480"/>
            <a:ext cx="2697480" cy="3108960"/>
          </a:xfrm>
          <a:prstGeom prst="roundRect">
            <a:avLst>
              <a:gd name="adj" fmla="val 3051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0200" y="1874520"/>
            <a:ext cx="585216" cy="585216"/>
          </a:xfrm>
          <a:prstGeom prst="ellipse">
            <a:avLst/>
          </a:prstGeom>
          <a:solidFill>
            <a:srgbClr val="3BC98A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0200" y="18745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13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512668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Matematik hisob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12668" y="315468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Zararsizlik, annuitet, soliq rejimlari — deterministik kod, AI emas.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0148" y="1554480"/>
            <a:ext cx="2697480" cy="3108960"/>
          </a:xfrm>
          <a:prstGeom prst="roundRect">
            <a:avLst>
              <a:gd name="adj" fmla="val 3051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6280" y="1874520"/>
            <a:ext cx="585216" cy="585216"/>
          </a:xfrm>
          <a:prstGeom prst="ellipse">
            <a:avLst/>
          </a:prstGeom>
          <a:solidFill>
            <a:srgbClr val="3BC98A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66280" y="18745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13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38748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Aniq hukm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38748" y="315468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“Ishlaydi” / “chegarada” / “tavsiya etilmaydi” — sabablari bilan.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36228" y="1554480"/>
            <a:ext cx="2697480" cy="3108960"/>
          </a:xfrm>
          <a:prstGeom prst="roundRect">
            <a:avLst>
              <a:gd name="adj" fmla="val 3051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92360" y="1874520"/>
            <a:ext cx="585216" cy="585216"/>
          </a:xfrm>
          <a:prstGeom prst="ellipse">
            <a:avLst/>
          </a:prstGeom>
          <a:solidFill>
            <a:srgbClr val="1E2F27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92360" y="18745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BC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364828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tushuntirish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364828" y="315468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raqamlarni odam tilida izohlaydi. Raqamga tegmaydi.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7988" y="4937760"/>
            <a:ext cx="11475720" cy="914400"/>
          </a:xfrm>
          <a:prstGeom prst="roundRect">
            <a:avLst>
              <a:gd name="adj" fmla="val 9000"/>
            </a:avLst>
          </a:prstGeom>
          <a:solidFill>
            <a:srgbClr val="13291F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8028" y="4937760"/>
            <a:ext cx="10835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tartibi:  Soliq (og'riq)  →  Kredit va imtiyoz (37.5 mln)  →  Biznes-reja (Toshkent vs Navoiy)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BOZOR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Kimga kerak — va kim to'laydi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49428" y="1554480"/>
            <a:ext cx="3611880" cy="2926080"/>
          </a:xfrm>
          <a:prstGeom prst="roundRect">
            <a:avLst>
              <a:gd name="adj" fmla="val 2813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3748" y="1828800"/>
            <a:ext cx="566928" cy="566928"/>
          </a:xfrm>
          <a:prstGeom prst="ellipse">
            <a:avLst/>
          </a:prstGeom>
          <a:solidFill>
            <a:srgbClr val="1E2F2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472" y="1953524"/>
            <a:ext cx="317480" cy="317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23748" y="26060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Boshlang'ich tadbirkorlar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23748" y="3337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 biznes foyda beradimi? YaTT ochaymi, MChJ mi?” — birinchi qarorlar bosqichi.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89908" y="1554480"/>
            <a:ext cx="3611880" cy="2926080"/>
          </a:xfrm>
          <a:prstGeom prst="roundRect">
            <a:avLst>
              <a:gd name="adj" fmla="val 2813"/>
            </a:avLst>
          </a:prstGeom>
          <a:solidFill>
            <a:srgbClr val="1A2A1F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64228" y="1828800"/>
            <a:ext cx="566928" cy="566928"/>
          </a:xfrm>
          <a:prstGeom prst="ellipse">
            <a:avLst/>
          </a:prstGeom>
          <a:solidFill>
            <a:srgbClr val="1E2F2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952" y="1953524"/>
            <a:ext cx="317480" cy="3174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027268" y="1938528"/>
            <a:ext cx="1627632" cy="347472"/>
          </a:xfrm>
          <a:prstGeom prst="roundRect">
            <a:avLst>
              <a:gd name="adj" fmla="val 50000"/>
            </a:avLst>
          </a:prstGeom>
          <a:solidFill>
            <a:srgbClr val="3BC98A"/>
          </a:solidFill>
          <a:ln/>
        </p:spPr>
      </p:sp>
      <p:sp>
        <p:nvSpPr>
          <p:cNvPr id="15" name="Text 11"/>
          <p:cNvSpPr/>
          <p:nvPr/>
        </p:nvSpPr>
        <p:spPr>
          <a:xfrm>
            <a:off x="6027268" y="193852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13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ASOSIY TO'LOVCHI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564228" y="26060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Amaldagi YaTT / MChJ egalari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564228" y="3337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Soliqni kamaytirish, kreditni to'g'ri olish, imtiyozdan foydalanish — doimiy ehtiyoj.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130388" y="1554480"/>
            <a:ext cx="3611880" cy="2926080"/>
          </a:xfrm>
          <a:prstGeom prst="roundRect">
            <a:avLst>
              <a:gd name="adj" fmla="val 2813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404708" y="1828800"/>
            <a:ext cx="566928" cy="566928"/>
          </a:xfrm>
          <a:prstGeom prst="ellipse">
            <a:avLst/>
          </a:prstGeom>
          <a:solidFill>
            <a:srgbClr val="1E2F27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9432" y="1953524"/>
            <a:ext cx="317480" cy="317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404708" y="26060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Biznes yo'nalishi talabalari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404708" y="3337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Biznes-reja topshiriqlari. Bugungi talaba — ertangi tadbirkor.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49428" y="4754880"/>
            <a:ext cx="11292840" cy="1051560"/>
          </a:xfrm>
          <a:prstGeom prst="roundRect">
            <a:avLst>
              <a:gd name="adj" fmla="val 7826"/>
            </a:avLst>
          </a:prstGeom>
          <a:solidFill>
            <a:srgbClr val="17231C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723748" y="4892040"/>
            <a:ext cx="1074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 yili O'zbekistonda </a:t>
            </a:r>
            <a:pPr indent="0" marL="0">
              <a:buNone/>
            </a:pPr>
            <a:r>
              <a:rPr lang="en-US" sz="1400" b="1" dirty="0">
                <a:solidFill>
                  <a:srgbClr val="E9B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o'n minglab yangi biznes</a:t>
            </a:r>
            <a:pPr indent="0" marL="0">
              <a:buNone/>
            </a:pPr>
            <a:r>
              <a:rPr lang="en-US" sz="140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ro'yxatdan o'tadi — va har biri reja, kredit, soliq va bozor savollariga duch keladi.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BIZNES MODELI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Obuna: oyiga 29 000 so'm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246120" cy="2286000"/>
          </a:xfrm>
          <a:prstGeom prst="roundRect">
            <a:avLst>
              <a:gd name="adj" fmla="val 36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BEPUL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77240" y="25603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 asbobdan oyiga 3 ta hisob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77640" y="1417320"/>
            <a:ext cx="3246120" cy="2286000"/>
          </a:xfrm>
          <a:prstGeom prst="roundRect">
            <a:avLst>
              <a:gd name="adj" fmla="val 3600"/>
            </a:avLst>
          </a:prstGeom>
          <a:solidFill>
            <a:srgbClr val="1A2A1F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600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8FE6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51960" y="1965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29 000</a:t>
            </a:r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so'm/oy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251960" y="25603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Cheksiz hisob · AI maslahat · saqlangan profil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452360" y="1417320"/>
            <a:ext cx="3246120" cy="2286000"/>
          </a:xfrm>
          <a:prstGeom prst="roundRect">
            <a:avLst>
              <a:gd name="adj" fmla="val 36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26680" y="1600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BIZNES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26680" y="1965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99 000</a:t>
            </a:r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so'm/oy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26680" y="25603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mijoz profili — buxgalter va konsultantlar uchun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886200"/>
            <a:ext cx="10195560" cy="1828800"/>
          </a:xfrm>
          <a:prstGeom prst="roundRect">
            <a:avLst>
              <a:gd name="adj" fmla="val 4500"/>
            </a:avLst>
          </a:prstGeom>
          <a:solidFill>
            <a:srgbClr val="17231C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069080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BIRLIK IQTISODIYOTI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43484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Bitta AI maslahat tannarxi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0" y="44348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 so'm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" y="481888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Yalpi marja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95360" y="48188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~98%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5202936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Zararsizlik (real ssenariy)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95360" y="5202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~404 obunachi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19872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94192" y="1600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QO'SHIMCHA OQIMLAR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94192" y="20116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Bankka yo'naltirish komissiyasi (2-bosqich)</a:t>
            </a:r>
            <a:endParaRPr lang="en-US" sz="115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Buxgalteriya va sug'urta hamkorlari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19872" y="3886200"/>
            <a:ext cx="3566160" cy="1828800"/>
          </a:xfrm>
          <a:prstGeom prst="roundRect">
            <a:avLst>
              <a:gd name="adj" fmla="val 4500"/>
            </a:avLst>
          </a:prstGeom>
          <a:solidFill>
            <a:srgbClr val="13291F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94192" y="4114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Daromadimiz kredit berishga bog'liq emas.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394192" y="48006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Shuning uchun bozorda hech kim aytmaydigan gapni ayta olamiz: “Bu kreditni olmang.”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HOZIRGI NATIJALAR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G'oya emas — ishlaydigan mahsulot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08280" y="1508760"/>
            <a:ext cx="3657600" cy="1371600"/>
          </a:xfrm>
          <a:prstGeom prst="roundRect">
            <a:avLst>
              <a:gd name="adj" fmla="val 60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4312" y="169164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42 000+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64312" y="224028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qator ishlab chiqarish kodi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67048" y="1508760"/>
            <a:ext cx="3657600" cy="1371600"/>
          </a:xfrm>
          <a:prstGeom prst="roundRect">
            <a:avLst>
              <a:gd name="adj" fmla="val 60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3080" y="169164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23080" y="224028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ishlaydigan sahifa (jonli demo)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5816" y="1508760"/>
            <a:ext cx="3657600" cy="1371600"/>
          </a:xfrm>
          <a:prstGeom prst="roundRect">
            <a:avLst>
              <a:gd name="adj" fmla="val 60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1848" y="169164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81848" y="224028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til: o'zbek · rus · ingliz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08280" y="3108960"/>
            <a:ext cx="3657600" cy="1371600"/>
          </a:xfrm>
          <a:prstGeom prst="roundRect">
            <a:avLst>
              <a:gd name="adj" fmla="val 60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4312" y="329184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4312" y="384048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avtomatik test — hisob-kitoblar qulflangan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67048" y="3108960"/>
            <a:ext cx="3657600" cy="1371600"/>
          </a:xfrm>
          <a:prstGeom prst="roundRect">
            <a:avLst>
              <a:gd name="adj" fmla="val 60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3080" y="329184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+ 6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523080" y="384048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taklifi + davlat dasturi bazasi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25816" y="3108960"/>
            <a:ext cx="3657600" cy="1371600"/>
          </a:xfrm>
          <a:prstGeom prst="roundRect">
            <a:avLst>
              <a:gd name="adj" fmla="val 600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1848" y="329184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381848" y="384048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izoh jonli ulangan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08280" y="4709160"/>
            <a:ext cx="11375136" cy="1143000"/>
          </a:xfrm>
          <a:prstGeom prst="roundRect">
            <a:avLst>
              <a:gd name="adj" fmla="val 7200"/>
            </a:avLst>
          </a:prstGeom>
          <a:solidFill>
            <a:srgbClr val="13291F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2600" y="4846320"/>
            <a:ext cx="10826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Jonli demo hoziroq:  </a:t>
            </a:r>
            <a:pPr indent="0" marL="0">
              <a:buNone/>
            </a:pPr>
            <a:r>
              <a:rPr lang="en-US" sz="1300" b="1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demo@phoenix.uz / Phoenix2026!</a:t>
            </a:r>
            <a:pPr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Foydalanuvchi metrikasi hali yo'q — ishga tushirishga tayyor bosqich.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RAQOBAT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Bozorda kim nima deydi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49428" y="150876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3748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23748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“Sizga kredit bera olamiz. Oylik to'lov — shuncha.”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3748" y="36576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Kreditni sotadi. “Ko'tarasizmi?” — uning savoli emas.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89908" y="150876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4228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DAVLAT RAQAMLI PLATFORMASI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64228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“Arizangizni bir nechta bankka yuboramiz.”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64228" y="36576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2026-yil iyuldan. Arizani osonlashtiradi — qarorni emas.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0388" y="150876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1A2A1F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04708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PHOENIX AI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04708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 kreditni olmang — aylanmangizning 31% ini yeydi.”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404708" y="36576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Qarorni himoya qiladi: soliq + kredit + imtiyoz + lokatsiya birga.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49428" y="4983480"/>
            <a:ext cx="11292840" cy="868680"/>
          </a:xfrm>
          <a:prstGeom prst="roundRect">
            <a:avLst>
              <a:gd name="adj" fmla="val 9474"/>
            </a:avLst>
          </a:prstGeom>
          <a:solidFill>
            <a:srgbClr val="17231C"/>
          </a:solidFill>
          <a:ln w="12700">
            <a:solidFill>
              <a:srgbClr val="6B5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748" y="4983480"/>
            <a:ext cx="10744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D9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 davlat platformasiga qarshi emasmiz — eshigimiz unga ochiladi: biz tadbirkorni tayyorlaymiz, platforma rasmiylashtiradi.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Keyingi qadamlar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57988" y="1554480"/>
            <a:ext cx="457200" cy="457200"/>
          </a:xfrm>
          <a:prstGeom prst="ellipse">
            <a:avLst/>
          </a:prstGeom>
          <a:solidFill>
            <a:srgbClr val="3BC98A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798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13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24916" y="1591056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D9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Darhol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7988" y="2194560"/>
            <a:ext cx="2697480" cy="2926080"/>
          </a:xfrm>
          <a:prstGeom prst="roundRect">
            <a:avLst>
              <a:gd name="adj" fmla="val 3051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6588" y="2377440"/>
            <a:ext cx="2240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Soliq stavkalarini buxgalter bilan tasdiqlash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Bozor raqamini rasmiy manbadan olish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84068" y="1554480"/>
            <a:ext cx="457200" cy="457200"/>
          </a:xfrm>
          <a:prstGeom prst="ellipse">
            <a:avLst/>
          </a:prstGeom>
          <a:solidFill>
            <a:srgbClr val="1E2F27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840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C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50996" y="1591056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D9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hafta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84068" y="2194560"/>
            <a:ext cx="2697480" cy="2926080"/>
          </a:xfrm>
          <a:prstGeom prst="roundRect">
            <a:avLst>
              <a:gd name="adj" fmla="val 3051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12668" y="2377440"/>
            <a:ext cx="2240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Tuman toifalari rasmiy ro'yxati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Dastur muddatlarini tekshirish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ishga tushirish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0148" y="1554480"/>
            <a:ext cx="457200" cy="457200"/>
          </a:xfrm>
          <a:prstGeom prst="ellipse">
            <a:avLst/>
          </a:prstGeom>
          <a:solidFill>
            <a:srgbClr val="1E2F27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014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C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77076" y="1591056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D9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0148" y="2194560"/>
            <a:ext cx="2697480" cy="2926080"/>
          </a:xfrm>
          <a:prstGeom prst="roundRect">
            <a:avLst>
              <a:gd name="adj" fmla="val 3051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38748" y="2377440"/>
            <a:ext cx="2240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Biznes profilini saqlash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bot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Birinchi 100 foydalanuvchi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36228" y="1554480"/>
            <a:ext cx="457200" cy="457200"/>
          </a:xfrm>
          <a:prstGeom prst="ellipse">
            <a:avLst/>
          </a:prstGeom>
          <a:solidFill>
            <a:srgbClr val="1E2F27"/>
          </a:solidFill>
          <a:ln w="12700">
            <a:solidFill>
              <a:srgbClr val="3BC9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3622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C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703156" y="1591056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D9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oy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136228" y="2194560"/>
            <a:ext cx="2697480" cy="2926080"/>
          </a:xfrm>
          <a:prstGeom prst="roundRect">
            <a:avLst>
              <a:gd name="adj" fmla="val 3051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64828" y="2377440"/>
            <a:ext cx="2240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API integratsiyasi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Obuna to'lovlari (Payme/Click)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Bankka yo'naltirish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F4D9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JAMOA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Jamoa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21412" y="1737360"/>
            <a:ext cx="2148840" cy="3291840"/>
          </a:xfrm>
          <a:prstGeom prst="roundRect">
            <a:avLst>
              <a:gd name="adj" fmla="val 383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052" y="2057400"/>
            <a:ext cx="1051560" cy="1051560"/>
          </a:xfrm>
          <a:prstGeom prst="ellipse">
            <a:avLst/>
          </a:prstGeom>
          <a:solidFill>
            <a:srgbClr val="1E2F27"/>
          </a:solidFill>
          <a:ln w="15875">
            <a:solidFill>
              <a:srgbClr val="3BC9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0052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8572" y="329184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Ruziyeva Fotima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8572" y="41148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Front-end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71420" y="1737360"/>
            <a:ext cx="2148840" cy="3291840"/>
          </a:xfrm>
          <a:prstGeom prst="roundRect">
            <a:avLst>
              <a:gd name="adj" fmla="val 383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20060" y="2057400"/>
            <a:ext cx="1051560" cy="1051560"/>
          </a:xfrm>
          <a:prstGeom prst="ellipse">
            <a:avLst/>
          </a:prstGeom>
          <a:solidFill>
            <a:srgbClr val="20301B"/>
          </a:solidFill>
          <a:ln w="15875">
            <a:solidFill>
              <a:srgbClr val="3BC9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20060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08580" y="329184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Mansurov Umidjon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808580" y="41148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Moliya menejeri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1428" y="1737360"/>
            <a:ext cx="2148840" cy="3291840"/>
          </a:xfrm>
          <a:prstGeom prst="roundRect">
            <a:avLst>
              <a:gd name="adj" fmla="val 383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70068" y="2057400"/>
            <a:ext cx="1051560" cy="1051560"/>
          </a:xfrm>
          <a:prstGeom prst="ellipse">
            <a:avLst/>
          </a:prstGeom>
          <a:solidFill>
            <a:srgbClr val="1B2C2A"/>
          </a:solidFill>
          <a:ln w="15875">
            <a:solidFill>
              <a:srgbClr val="3BC9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0068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158588" y="329184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Maxmudov Samandar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58588" y="41148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dasturchi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71436" y="1737360"/>
            <a:ext cx="2148840" cy="3291840"/>
          </a:xfrm>
          <a:prstGeom prst="roundRect">
            <a:avLst>
              <a:gd name="adj" fmla="val 383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20076" y="2057400"/>
            <a:ext cx="1051560" cy="1051560"/>
          </a:xfrm>
          <a:prstGeom prst="ellipse">
            <a:avLst/>
          </a:prstGeom>
          <a:solidFill>
            <a:srgbClr val="2B2618"/>
          </a:solidFill>
          <a:ln w="15875">
            <a:solidFill>
              <a:srgbClr val="3BC9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20076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508596" y="329184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Shodiyeva Shaxzoda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508596" y="41148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Grafik dizayner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721444" y="1737360"/>
            <a:ext cx="2148840" cy="3291840"/>
          </a:xfrm>
          <a:prstGeom prst="roundRect">
            <a:avLst>
              <a:gd name="adj" fmla="val 3830"/>
            </a:avLst>
          </a:prstGeom>
          <a:solidFill>
            <a:srgbClr val="121B16"/>
          </a:solidFill>
          <a:ln w="12700">
            <a:solidFill>
              <a:srgbClr val="2A3D3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270084" y="2057400"/>
            <a:ext cx="1051560" cy="1051560"/>
          </a:xfrm>
          <a:prstGeom prst="ellipse">
            <a:avLst/>
          </a:prstGeom>
          <a:solidFill>
            <a:srgbClr val="291E22"/>
          </a:solidFill>
          <a:ln w="15875">
            <a:solidFill>
              <a:srgbClr val="3BC9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270084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E6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858604" y="329184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F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Shodiyeva Sabina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858604" y="41148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Grafik dizayner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525780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D9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Bitta maqsad: tadbirkor pulini himoya qiladigan aniq hisob-kitob.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566928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phoenix-ai.uz  ·  info@phoenix-ai.uz  ·  demo@phoenix.uz / Phoenix2026!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Phoenix AI — pitch</dc:title>
  <dc:subject>PptxGenJS Presentation</dc:subject>
  <dc:creator>Phoenix AI</dc:creator>
  <cp:lastModifiedBy>Phoenix AI</cp:lastModifiedBy>
  <cp:revision>1</cp:revision>
  <dcterms:created xsi:type="dcterms:W3CDTF">2026-08-12T09:13:42Z</dcterms:created>
  <dcterms:modified xsi:type="dcterms:W3CDTF">2026-08-12T09:13:42Z</dcterms:modified>
</cp:coreProperties>
</file>